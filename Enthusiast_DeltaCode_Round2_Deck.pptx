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-1097280"/>
            <a:ext cx="4572000" cy="4572000"/>
          </a:xfrm>
          <a:prstGeom prst="ellipse">
            <a:avLst/>
          </a:prstGeom>
          <a:solidFill>
            <a:srgbClr val="15244A"/>
          </a:solidFill>
          <a:ln w="12700">
            <a:solidFill>
              <a:srgbClr val="1524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223760" y="2377440"/>
            <a:ext cx="2560320" cy="2560320"/>
          </a:xfrm>
          <a:prstGeom prst="ellipse">
            <a:avLst/>
          </a:prstGeom>
          <a:solidFill>
            <a:srgbClr val="2DD4BF">
              <a:alpha val="20000"/>
            </a:srgbClr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731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DD4BF"/>
                </a:solidFill>
              </a:rPr>
              <a:t>DELTA CODE 2026  |  ROUND 2  |  PROBABILITY &amp; STATISTICS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1887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1F5F9"/>
                </a:solidFill>
              </a:rPr>
              <a:t>k-Way Collision Probabilities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BBF24"/>
                </a:solidFill>
              </a:rPr>
              <a:t>High-dimensional vectorized Monte Carlo vs. Poisson analysis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109728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97180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1F5F9"/>
                </a:solidFill>
              </a:rPr>
              <a:t>Team Enthusiast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1F5F9"/>
                </a:solidFill>
              </a:rPr>
              <a:t>Krish Agrawal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2DD4BF"/>
                </a:solidFill>
              </a:rPr>
              <a:t>krishagrawal222@gmail.com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480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Technozion 2026  |  The Mathematical Society, NIT Warangal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</a:rPr>
              <a:t>The problem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D4BF"/>
                </a:solidFill>
              </a:rPr>
              <a:t>Generalized birthday: when does some bucket get k or more keys?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Team Enthusiast  |  Delta Code 2026  |  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15244A"/>
          </a:solidFill>
          <a:ln w="15875">
            <a:solidFill>
              <a:srgbClr val="2DD4B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280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P(Collision ≥ k)  ≈  1 − exp( − C(n,k) / C^(k−1) )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920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n keys drawn uniformly from C buckets   |   k = 2 is the classic birthday problem   |   λ = C(n,k) / C^(k−1)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606040"/>
            <a:ext cx="2606040" cy="2011680"/>
          </a:xfrm>
          <a:prstGeom prst="roundRect">
            <a:avLst>
              <a:gd name="adj" fmla="val 4545"/>
            </a:avLst>
          </a:prstGeom>
          <a:solidFill>
            <a:srgbClr val="15244A"/>
          </a:solidFill>
          <a:ln w="12700">
            <a:solidFill>
              <a:srgbClr val="1524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770632"/>
            <a:ext cx="45720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286207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</a:rPr>
              <a:t>Why it matters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209544"/>
            <a:ext cx="224028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Hash collisions (SHA-256), salts and database sharding rely on collision resistance over huge key spaces, up to C = 2³².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268980" y="2606040"/>
            <a:ext cx="2606040" cy="2011680"/>
          </a:xfrm>
          <a:prstGeom prst="roundRect">
            <a:avLst>
              <a:gd name="adj" fmla="val 4545"/>
            </a:avLst>
          </a:prstGeom>
          <a:solidFill>
            <a:srgbClr val="15244A"/>
          </a:solidFill>
          <a:ln w="12700">
            <a:solidFill>
              <a:srgbClr val="1524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51860" y="2770632"/>
            <a:ext cx="457200" cy="457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451860" y="286207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</a:rPr>
              <a:t>The hard part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451860" y="3209544"/>
            <a:ext cx="224028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For k ≥ 3 the events are rare (p &lt; 10⁻⁶). Brute-force Monte Carlo breaks down and analysis must take over.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080760" y="2606040"/>
            <a:ext cx="2606040" cy="2011680"/>
          </a:xfrm>
          <a:prstGeom prst="roundRect">
            <a:avLst>
              <a:gd name="adj" fmla="val 4545"/>
            </a:avLst>
          </a:prstGeom>
          <a:solidFill>
            <a:srgbClr val="15244A"/>
          </a:solidFill>
          <a:ln w="12700">
            <a:solidFill>
              <a:srgbClr val="1524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63640" y="2770632"/>
            <a:ext cx="45720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63640" y="286207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</a:rPr>
              <a:t>Our approach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263640" y="3209544"/>
            <a:ext cx="224028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Derive the Poisson bound, simulate with vectorized NumPy, then quantify exactly where each method works.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</a:rPr>
              <a:t>Why Poisson works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D4BF"/>
                </a:solidFill>
              </a:rPr>
              <a:t>Derivation: count colliding k-subsets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Team Enthusiast  |  Delta Code 2026  |  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15244A"/>
          </a:solidFill>
          <a:ln w="12700">
            <a:solidFill>
              <a:srgbClr val="1524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353312"/>
            <a:ext cx="45720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44475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</a:rPr>
              <a:t>1. Exact reformulation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792224"/>
            <a:ext cx="361188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Let X be the number of k-subsets of keys that all share a bucket. Then {max load ≥ k} = {X ≥ 1} exactly.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709160" y="118872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15244A"/>
          </a:solidFill>
          <a:ln w="12700">
            <a:solidFill>
              <a:srgbClr val="1524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92040" y="1353312"/>
            <a:ext cx="457200" cy="457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92040" y="144475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</a:rPr>
              <a:t>2. Mean of X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892040" y="1792224"/>
            <a:ext cx="361188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Each subset collides with probability C^−(k−1), so E[X] = C(n,k) / C^(k−1) = λ.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2971800"/>
            <a:ext cx="3977640" cy="1645920"/>
          </a:xfrm>
          <a:prstGeom prst="roundRect">
            <a:avLst>
              <a:gd name="adj" fmla="val 5556"/>
            </a:avLst>
          </a:prstGeom>
          <a:solidFill>
            <a:srgbClr val="15244A"/>
          </a:solidFill>
          <a:ln w="12700">
            <a:solidFill>
              <a:srgbClr val="1524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136392"/>
            <a:ext cx="45720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22783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</a:rPr>
              <a:t>3. Poisson limit (Chen-Stein)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575304"/>
            <a:ext cx="361188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Only overlapping subsets are dependent. The error is bounded by min(1, 1/λ)·(b₁+b₂), with b₂ ≈ λ·k·n/C, so it vanishes when n ≪ C.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709160" y="2971800"/>
            <a:ext cx="3977640" cy="1645920"/>
          </a:xfrm>
          <a:prstGeom prst="roundRect">
            <a:avLst>
              <a:gd name="adj" fmla="val 5556"/>
            </a:avLst>
          </a:prstGeom>
          <a:solidFill>
            <a:srgbClr val="15244A"/>
          </a:solidFill>
          <a:ln w="12700">
            <a:solidFill>
              <a:srgbClr val="1524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92040" y="3136392"/>
            <a:ext cx="457200" cy="4572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92040" y="322783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</a:rPr>
              <a:t>4. Where it is biased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892040" y="3575304"/>
            <a:ext cx="361188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k = 2: Poisson slightly under-estimates (≈ n/3C). k ≥ 3: it over-counts buckets with load &gt; k, so it over-estimates as λ grows.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</a:rPr>
              <a:t>Vectorized Monte Carlo engine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D4BF"/>
                </a:solidFill>
              </a:rPr>
              <a:t>No Python loop over trials; memory independent of T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Team Enthusiast  |  Delta Code 2026  |  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606040" cy="3383280"/>
          </a:xfrm>
          <a:prstGeom prst="roundRect">
            <a:avLst>
              <a:gd name="adj" fmla="val 3509"/>
            </a:avLst>
          </a:prstGeom>
          <a:solidFill>
            <a:srgbClr val="15244A"/>
          </a:solidFill>
          <a:ln w="12700">
            <a:solidFill>
              <a:srgbClr val="1524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353312"/>
            <a:ext cx="45720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44475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</a:rPr>
              <a:t>Detect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792224"/>
            <a:ext cx="2240280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Sort each row in place, then test S[:, k−1:] == S[:, :n−k+1]. In a sorted row, a value occurs ≥ k times iff keys i and i+k−1 match. np.diff and bincount versions cross-check it.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68980" y="1188720"/>
            <a:ext cx="2606040" cy="3383280"/>
          </a:xfrm>
          <a:prstGeom prst="roundRect">
            <a:avLst>
              <a:gd name="adj" fmla="val 3509"/>
            </a:avLst>
          </a:prstGeom>
          <a:solidFill>
            <a:srgbClr val="15244A"/>
          </a:solidFill>
          <a:ln w="12700">
            <a:solidFill>
              <a:srgbClr val="1524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51860" y="1353312"/>
            <a:ext cx="457200" cy="457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51860" y="144475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</a:rPr>
              <a:t>Chunk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451860" y="1792224"/>
            <a:ext cx="2240280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Full T×n matrix is 4 GB at n = 1000. Block size comes from a memory budget (256 MB default), keys are uint32 for C ≤ 2³², rows are C-contiguous, and results are bit-identical for any chunk size.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080760" y="1188720"/>
            <a:ext cx="2606040" cy="3383280"/>
          </a:xfrm>
          <a:prstGeom prst="roundRect">
            <a:avLst>
              <a:gd name="adj" fmla="val 3509"/>
            </a:avLst>
          </a:prstGeom>
          <a:solidFill>
            <a:srgbClr val="15244A"/>
          </a:solidFill>
          <a:ln w="12700">
            <a:solidFill>
              <a:srgbClr val="1524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63640" y="1353312"/>
            <a:ext cx="45720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63640" y="144475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</a:rPr>
              <a:t>Verify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1792224"/>
            <a:ext cx="2240280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15 self-tests pass, including exact enumeration. Clopper-Pearson and Wilson 95% CIs via scipy.stats. NumPy beat a numba kernel about 7× on 1 core, so NumPy is the default.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</a:rPr>
              <a:t>Results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D4BF"/>
                </a:solidFill>
              </a:rPr>
              <a:t>135 parameter points: C from 10⁴ to 2³², k = 2, 3, 4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Team Enthusiast  |  Delta Code 2026  |  5</a:t>
            </a:r>
            <a:endParaRPr lang="en-US" sz="900" dirty="0"/>
          </a:p>
        </p:txBody>
      </p:sp>
      <p:pic>
        <p:nvPicPr>
          <p:cNvPr id="6" name="Image 0" descr="plot_gr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6309360" cy="365302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949440" y="1097280"/>
            <a:ext cx="1737360" cy="1143000"/>
          </a:xfrm>
          <a:prstGeom prst="roundRect">
            <a:avLst>
              <a:gd name="adj" fmla="val 8000"/>
            </a:avLst>
          </a:prstGeom>
          <a:solidFill>
            <a:srgbClr val="15244A"/>
          </a:solidFill>
          <a:ln w="12700">
            <a:solidFill>
              <a:srgbClr val="15244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949440" y="120700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DD4BF"/>
                </a:solidFill>
              </a:rPr>
              <a:t>135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7040880" y="1773936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grid points with 95% CP and Wilson CIs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949440" y="2377440"/>
            <a:ext cx="1737360" cy="1143000"/>
          </a:xfrm>
          <a:prstGeom prst="roundRect">
            <a:avLst>
              <a:gd name="adj" fmla="val 8000"/>
            </a:avLst>
          </a:prstGeom>
          <a:solidFill>
            <a:srgbClr val="15244A"/>
          </a:solidFill>
          <a:ln w="12700">
            <a:solidFill>
              <a:srgbClr val="15244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949440" y="248716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BBF24"/>
                </a:solidFill>
              </a:rPr>
              <a:t>2.8·10¹⁰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7040880" y="3054096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random keys simulated in 277 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949440" y="3657600"/>
            <a:ext cx="1737360" cy="1143000"/>
          </a:xfrm>
          <a:prstGeom prst="roundRect">
            <a:avLst>
              <a:gd name="adj" fmla="val 8000"/>
            </a:avLst>
          </a:prstGeom>
          <a:solidFill>
            <a:srgbClr val="15244A"/>
          </a:solidFill>
          <a:ln w="12700">
            <a:solidFill>
              <a:srgbClr val="15244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949440" y="376732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DD4BF"/>
                </a:solidFill>
              </a:rPr>
              <a:t>15 / 15</a:t>
            </a:r>
            <a:endParaRPr lang="en-US" sz="2800" dirty="0"/>
          </a:p>
        </p:txBody>
      </p:sp>
      <p:sp>
        <p:nvSpPr>
          <p:cNvPr id="15" name="Text 12"/>
          <p:cNvSpPr txBox="1"/>
          <p:nvPr/>
        </p:nvSpPr>
        <p:spPr>
          <a:xfrm>
            <a:off x="7040880" y="4334256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self-tests pass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</a:rPr>
              <a:t>Where Monte Carlo breaks down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D4BF"/>
                </a:solidFill>
              </a:rPr>
              <a:t>Relative error ≈ 1.96 / √(p·T); with T = 10⁶: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Team Enthusiast  |  Delta Code 2026  |  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2606040" cy="1143000"/>
          </a:xfrm>
          <a:prstGeom prst="roundRect">
            <a:avLst>
              <a:gd name="adj" fmla="val 8000"/>
            </a:avLst>
          </a:prstGeom>
          <a:solidFill>
            <a:srgbClr val="15244A"/>
          </a:solidFill>
          <a:ln w="12700">
            <a:solidFill>
              <a:srgbClr val="1524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34416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DD4BF"/>
                </a:solidFill>
              </a:rPr>
              <a:t>3.8·10⁻⁴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911096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below this p, estimates are worse than ±10%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68980" y="1234440"/>
            <a:ext cx="2606040" cy="1143000"/>
          </a:xfrm>
          <a:prstGeom prst="roundRect">
            <a:avLst>
              <a:gd name="adj" fmla="val 8000"/>
            </a:avLst>
          </a:prstGeom>
          <a:solidFill>
            <a:srgbClr val="15244A"/>
          </a:solidFill>
          <a:ln w="12700">
            <a:solidFill>
              <a:srgbClr val="15244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68980" y="134416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BBF24"/>
                </a:solidFill>
              </a:rPr>
              <a:t>3.8·10⁻⁶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3360420" y="1911096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CI as wide as the estimate itself (failure zone)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80760" y="1234440"/>
            <a:ext cx="2606040" cy="1143000"/>
          </a:xfrm>
          <a:prstGeom prst="roundRect">
            <a:avLst>
              <a:gd name="adj" fmla="val 8000"/>
            </a:avLst>
          </a:prstGeom>
          <a:solidFill>
            <a:srgbClr val="15244A"/>
          </a:solidFill>
          <a:ln w="12700">
            <a:solidFill>
              <a:srgbClr val="1524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80760" y="134416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87171"/>
                </a:solidFill>
              </a:rPr>
              <a:t>60 / 135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6172200" y="1911096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grid points returned exactly zero hits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606040"/>
            <a:ext cx="3977640" cy="2011680"/>
          </a:xfrm>
          <a:prstGeom prst="roundRect">
            <a:avLst>
              <a:gd name="adj" fmla="val 4545"/>
            </a:avLst>
          </a:prstGeom>
          <a:solidFill>
            <a:srgbClr val="15244A"/>
          </a:solidFill>
          <a:ln w="12700">
            <a:solidFill>
              <a:srgbClr val="1524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2770632"/>
            <a:ext cx="45720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286207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</a:rPr>
              <a:t>Empirical confirmation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209544"/>
            <a:ext cx="361188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39 points reliable (≥ 385 hits), 22 noisy, 74 failed (&lt; 10 hits). At p ≈ 10⁻⁶ the running estimate used 3 hits and was off by 2.8×.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709160" y="2606040"/>
            <a:ext cx="3977640" cy="2011680"/>
          </a:xfrm>
          <a:prstGeom prst="roundRect">
            <a:avLst>
              <a:gd name="adj" fmla="val 4545"/>
            </a:avLst>
          </a:prstGeom>
          <a:solidFill>
            <a:srgbClr val="15244A"/>
          </a:solidFill>
          <a:ln w="12700">
            <a:solidFill>
              <a:srgbClr val="1524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92040" y="2770632"/>
            <a:ext cx="457200" cy="457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92040" y="286207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</a:rPr>
              <a:t>Hand-over to analysis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892040" y="3209544"/>
            <a:ext cx="361188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For C up to 2³² and k ≥ 3, every feasible n has p below the failure zone. Only the Poisson formula can answer there, with relative error ≈ 10⁻⁶.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</a:rPr>
              <a:t>Findings and takeaways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Team Enthusiast  |  Delta Code 2026  |  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3977640" cy="1691640"/>
          </a:xfrm>
          <a:prstGeom prst="roundRect">
            <a:avLst>
              <a:gd name="adj" fmla="val 5405"/>
            </a:avLst>
          </a:prstGeom>
          <a:solidFill>
            <a:srgbClr val="15244A"/>
          </a:solidFill>
          <a:ln w="12700">
            <a:solidFill>
              <a:srgbClr val="1524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216152"/>
            <a:ext cx="45720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30759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</a:rPr>
              <a:t>Poisson accuracy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655064"/>
            <a:ext cx="361188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Excellent for k = 2 at large C. For k ≥ 3 it over-estimates: 0.950 vs 0.908 at λ = 3, k = 4, C = 10⁴ (MC CI excludes Poisson).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709160" y="1051560"/>
            <a:ext cx="3977640" cy="1691640"/>
          </a:xfrm>
          <a:prstGeom prst="roundRect">
            <a:avLst>
              <a:gd name="adj" fmla="val 5405"/>
            </a:avLst>
          </a:prstGeom>
          <a:solidFill>
            <a:srgbClr val="15244A"/>
          </a:solidFill>
          <a:ln w="12700">
            <a:solidFill>
              <a:srgbClr val="1524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92040" y="1216152"/>
            <a:ext cx="457200" cy="457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92040" y="130759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</a:rPr>
              <a:t>Complementary regimes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1655064"/>
            <a:ext cx="361188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Monte Carlo covers p ≳ 10⁻⁴; Poisson covers p ≲ 10⁻⁵. A refined bucket-occupancy formula matched the MC at 129 / 135 points.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3977640" cy="1691640"/>
          </a:xfrm>
          <a:prstGeom prst="roundRect">
            <a:avLst>
              <a:gd name="adj" fmla="val 5405"/>
            </a:avLst>
          </a:prstGeom>
          <a:solidFill>
            <a:srgbClr val="15244A"/>
          </a:solidFill>
          <a:ln w="12700">
            <a:solidFill>
              <a:srgbClr val="1524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090672"/>
            <a:ext cx="45720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18211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</a:rPr>
              <a:t>Deliverables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529584"/>
            <a:ext cx="361188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birthday.py, results.csv, plot_grid.png, report.md, requirements.txt, README.md, public GitHub repo.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709160" y="2926080"/>
            <a:ext cx="3977640" cy="1691640"/>
          </a:xfrm>
          <a:prstGeom prst="roundRect">
            <a:avLst>
              <a:gd name="adj" fmla="val 5405"/>
            </a:avLst>
          </a:prstGeom>
          <a:solidFill>
            <a:srgbClr val="15244A"/>
          </a:solidFill>
          <a:ln w="12700">
            <a:solidFill>
              <a:srgbClr val="1524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92040" y="3090672"/>
            <a:ext cx="45720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92040" y="318211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</a:rPr>
              <a:t>Team Enthusiast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892040" y="3529584"/>
            <a:ext cx="361188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Krish Agrawal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krishagrawal222@gmail.com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Thank you!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k-Way Collision Probabilities</dc:title>
  <dc:subject>PptxGenJS Presentation</dc:subject>
  <dc:creator>Krish Agrawal, Team Enthusiast</dc:creator>
  <cp:lastModifiedBy>Krish Agrawal, Team Enthusiast</cp:lastModifiedBy>
  <cp:revision>1</cp:revision>
  <dcterms:created xsi:type="dcterms:W3CDTF">2026-10-25T11:39:47Z</dcterms:created>
  <dcterms:modified xsi:type="dcterms:W3CDTF">2026-10-25T11:39:47Z</dcterms:modified>
</cp:coreProperties>
</file>